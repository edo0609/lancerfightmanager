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070"/>
    <a:srgbClr val="F7EDED"/>
    <a:srgbClr val="820000"/>
    <a:srgbClr val="600000"/>
    <a:srgbClr val="E6C4C4"/>
    <a:srgbClr val="F6EAEA"/>
    <a:srgbClr val="FBF9F7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40" autoAdjust="0"/>
  </p:normalViewPr>
  <p:slideViewPr>
    <p:cSldViewPr snapToGrid="0">
      <p:cViewPr>
        <p:scale>
          <a:sx n="50" d="100"/>
          <a:sy n="50" d="100"/>
        </p:scale>
        <p:origin x="249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20A9-0F18-8598-37BC-792636E3A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9A53B-7ED6-D5F3-F6BB-D5550DD3F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47AB-1337-6B7B-6591-6368D8AC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5604-A552-D6BF-F2C2-D54D5B05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D7EEA-87FC-774C-0223-48A0B7C2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435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1316-DC63-BF6D-E32C-4444E6B8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19155-9D97-9B9A-59F9-D1C141966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EFEFE-6A3B-4FB2-0BD6-4AF9966B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91E4B-3141-4EAA-4110-E7945FC7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061B6-7F01-D593-07C9-CA109DFD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30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AFDF-5874-BB0A-4DD9-DB90ED2AE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5E4CE-FADE-A77F-0D45-0F67776F0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56002-3847-B278-BF55-BA4A1AAD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4CD89-5A51-9939-3C43-CFE030AC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54D25-EFF7-26F8-29F0-2B38B67A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545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2A39-7C3D-5803-2849-EC614E30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EF879-E1F0-EFA8-8148-F063BAA73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DE59A-7AB2-51D9-CDAD-DB3800D5D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ED51E-E08F-EBF0-C27F-50C2F553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FD0C-3063-03E4-C0F3-699A0736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7693-3FC0-9007-FE33-BD57361F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913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68FE-2406-CA13-3359-DF3E107E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37EF4-DD1F-6C2A-64E0-9C0AB911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D2BFA-09AA-12E7-2DBD-E14C5B7A8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61F01-367F-01C5-74CD-402E80947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BBAA8-3BF4-8D95-968B-13B60B798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45C12-F710-1C57-A79C-6EC11605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8D7A3-3105-A069-E63E-8698F8B4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490EB5-5DFA-0C93-1020-1CD4B453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055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A374-16AE-FBC0-E61F-E9C02286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72F6A-8C9E-524D-0F18-63B16D73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FB787-EEA2-B127-A1B9-B6ED87FF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7B874-F35F-4032-ADFC-F3FD8BFD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6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07457-59AE-7B17-8DE8-48410440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E17B5-CB8E-FF73-98A9-AD607542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0EE77-1630-92D7-573D-4C2F6FDC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191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3E2A-A978-2F44-3854-508D4DFA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FD9C4-3E7F-6959-905F-80B075D5D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FB265-01BA-C20D-FD73-1F005BBF8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74B9F-224E-BB54-DB29-0D088079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91B48-2E53-676B-65F0-B8DDC5CC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4E84E-F57A-F426-3CC0-7E24D5F0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571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3F8F-C4EF-7FEA-EB31-8391D8DD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CEA56-D323-03FB-E9B8-6C3928EB4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9D479-C52A-F49D-B023-821B9D17C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2D25-0FAF-0B15-CCB7-53CF7AC4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B2F95-B47E-CDF5-8E1B-EF2DE75A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85F4E-C948-83C7-5997-0666BB9A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0344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8D26-3833-03F7-9122-DA429A051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0D11C-A7F4-AA77-FD47-306BB0877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B45A5-D09F-CA13-BA4F-79B78354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82CBB-2D06-D870-7170-DC9A1A53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6EEC9-F165-995E-32E2-BB80C6BF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06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78D98-F58F-F8D6-7590-AD03D5BCF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C5039-37A1-D031-2AA2-B2DD7D66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4ADE-CEFF-B358-2D31-AE8994F8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55E1-109C-8726-840E-43E5B718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5042-037C-696A-3008-48C61F5D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84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25C200-E002-6204-98E3-116A26F0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49838-9E49-0D88-1A72-F30E80C5F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49FE7-F354-F3B7-5364-4C2C8058A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196A5-0985-41EE-94C7-D1E42FC5135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6209-966D-8B83-8910-D3B49B64B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FF95F-968F-E192-0618-A2917D8DC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7D875-B2D4-462F-A652-C2DCCD5BF2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48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670A-07D7-4480-2C71-9B4CC36C51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>
                <a:latin typeface="Anta" pitchFamily="2" charset="0"/>
              </a:rPr>
              <a:t>Lancer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Fight</a:t>
            </a:r>
            <a:r>
              <a:rPr lang="es-ES" dirty="0">
                <a:latin typeface="Anta" pitchFamily="2" charset="0"/>
              </a:rPr>
              <a:t>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52F46-B73F-6115-388D-F3CB7491D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5641" y="4842588"/>
            <a:ext cx="9144000" cy="1655762"/>
          </a:xfrm>
        </p:spPr>
        <p:txBody>
          <a:bodyPr/>
          <a:lstStyle/>
          <a:p>
            <a:pPr algn="r"/>
            <a:r>
              <a:rPr lang="es-ES" dirty="0">
                <a:latin typeface="Anta" pitchFamily="2" charset="0"/>
              </a:rPr>
              <a:t>Alumno: Eduardo Peñaloza</a:t>
            </a:r>
          </a:p>
          <a:p>
            <a:pPr algn="r"/>
            <a:r>
              <a:rPr lang="es-ES" dirty="0">
                <a:latin typeface="Anta" pitchFamily="2" charset="0"/>
              </a:rPr>
              <a:t>2º DAM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7849FA-5BA4-40DE-DDB6-88C931816C5B}"/>
              </a:ext>
            </a:extLst>
          </p:cNvPr>
          <p:cNvGrpSpPr/>
          <p:nvPr/>
        </p:nvGrpSpPr>
        <p:grpSpPr>
          <a:xfrm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11A93E-8619-0BF3-4D9E-FB4158F1F82B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BE0EB6AC-8A32-8A63-C949-946BA5639C40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EC424484-9ECB-2F09-483B-05E0FC9D3BF2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78434989-60F7-F1A0-800C-3323CEFEEBAC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BC883FE-48D2-44E1-AC87-3F055BD6243D}"/>
                </a:ext>
              </a:extLst>
            </p:cNvPr>
            <p:cNvSpPr/>
            <p:nvPr/>
          </p:nvSpPr>
          <p:spPr>
            <a:xfrm>
              <a:off x="858416" y="5670469"/>
              <a:ext cx="391886" cy="391886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8132CCC2-171B-ABE4-51D6-A469A84E5108}"/>
              </a:ext>
            </a:extLst>
          </p:cNvPr>
          <p:cNvSpPr/>
          <p:nvPr/>
        </p:nvSpPr>
        <p:spPr>
          <a:xfrm>
            <a:off x="-686693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CEA92E86-94DB-31E9-41FA-3720CCB2A5BF}"/>
              </a:ext>
            </a:extLst>
          </p:cNvPr>
          <p:cNvSpPr/>
          <p:nvPr/>
        </p:nvSpPr>
        <p:spPr>
          <a:xfrm>
            <a:off x="-1127450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E73A124-91AE-493B-AB98-E933BDD1C3FA}"/>
              </a:ext>
            </a:extLst>
          </p:cNvPr>
          <p:cNvSpPr/>
          <p:nvPr/>
        </p:nvSpPr>
        <p:spPr>
          <a:xfrm flipV="1">
            <a:off x="24438532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712083E-4C09-EC94-A779-FD61F051D61F}"/>
              </a:ext>
            </a:extLst>
          </p:cNvPr>
          <p:cNvSpPr/>
          <p:nvPr/>
        </p:nvSpPr>
        <p:spPr>
          <a:xfrm flipV="1">
            <a:off x="28501351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2986939-C63B-CCE3-711F-87FA110927A5}"/>
              </a:ext>
            </a:extLst>
          </p:cNvPr>
          <p:cNvSpPr txBox="1">
            <a:spLocks/>
          </p:cNvSpPr>
          <p:nvPr/>
        </p:nvSpPr>
        <p:spPr>
          <a:xfrm>
            <a:off x="1125899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/>
              <a:t>¿</a:t>
            </a:r>
            <a:r>
              <a:rPr lang="es-ES" sz="4800" dirty="0">
                <a:latin typeface="Anta" pitchFamily="2" charset="0"/>
              </a:rPr>
              <a:t>Qué es?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A32AD5D-8FD4-326D-21F4-0156E9C9DE32}"/>
              </a:ext>
            </a:extLst>
          </p:cNvPr>
          <p:cNvSpPr txBox="1">
            <a:spLocks/>
          </p:cNvSpPr>
          <p:nvPr/>
        </p:nvSpPr>
        <p:spPr>
          <a:xfrm>
            <a:off x="13030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Un programa diseñado para ayudar a los directores de Sesiones de Rol de </a:t>
            </a:r>
            <a:r>
              <a:rPr lang="es-ES" dirty="0" err="1">
                <a:latin typeface="Anta" pitchFamily="2" charset="0"/>
              </a:rPr>
              <a:t>LancerRPG</a:t>
            </a:r>
            <a:r>
              <a:rPr lang="es-ES" dirty="0">
                <a:latin typeface="Anta" pitchFamily="2" charset="0"/>
              </a:rPr>
              <a:t> a manejar de forma rápida y visual los distintos personajes del juego.</a:t>
            </a:r>
          </a:p>
        </p:txBody>
      </p:sp>
      <p:pic>
        <p:nvPicPr>
          <p:cNvPr id="1026" name="Picture 2" descr="LANCER RPG | LANCER Wiki | Fandom">
            <a:extLst>
              <a:ext uri="{FF2B5EF4-FFF2-40B4-BE49-F238E27FC236}">
                <a16:creationId xmlns:a16="http://schemas.microsoft.com/office/drawing/2014/main" id="{906DEBB1-956D-8869-5A58-072E8C050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0741" y="2988279"/>
            <a:ext cx="2463849" cy="318868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703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98399-628F-7152-8E47-968EF494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38AD-1446-8E91-C7A4-0DB8F1CE2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01401" y="1122363"/>
            <a:ext cx="9144000" cy="2387600"/>
          </a:xfrm>
        </p:spPr>
        <p:txBody>
          <a:bodyPr/>
          <a:lstStyle/>
          <a:p>
            <a:r>
              <a:rPr lang="es-ES" dirty="0" err="1">
                <a:latin typeface="Anta" pitchFamily="2" charset="0"/>
              </a:rPr>
              <a:t>Lancer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Fight</a:t>
            </a:r>
            <a:r>
              <a:rPr lang="es-ES" dirty="0">
                <a:latin typeface="Anta" pitchFamily="2" charset="0"/>
              </a:rPr>
              <a:t>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E6248-A665-7DAC-84F3-CE700FB98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5641" y="9414588"/>
            <a:ext cx="9144000" cy="1655762"/>
          </a:xfrm>
        </p:spPr>
        <p:txBody>
          <a:bodyPr/>
          <a:lstStyle/>
          <a:p>
            <a:pPr algn="r"/>
            <a:r>
              <a:rPr lang="es-ES" dirty="0">
                <a:latin typeface="Anta" pitchFamily="2" charset="0"/>
              </a:rPr>
              <a:t>Alumno: Eduardo Peñaloza</a:t>
            </a:r>
          </a:p>
          <a:p>
            <a:pPr algn="r"/>
            <a:r>
              <a:rPr lang="es-ES" dirty="0">
                <a:latin typeface="Anta" pitchFamily="2" charset="0"/>
              </a:rPr>
              <a:t>2º DAM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BDCD87-AE55-A549-8F39-C9C07A3D754F}"/>
              </a:ext>
            </a:extLst>
          </p:cNvPr>
          <p:cNvGrpSpPr/>
          <p:nvPr/>
        </p:nvGrpSpPr>
        <p:grpSpPr>
          <a:xfrm rot="27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9CC0278-8CDF-FD12-8E87-589BDCF6415E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62B508FA-45BE-798E-AF1A-829230E92E16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F3807D6C-F3EB-D882-669C-A0943CD5D3D2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5B668F2C-BE98-CC4C-58B9-B6EF0BD34598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81D7DF-D7F6-74A9-2885-14238A804250}"/>
                </a:ext>
              </a:extLst>
            </p:cNvPr>
            <p:cNvSpPr/>
            <p:nvPr/>
          </p:nvSpPr>
          <p:spPr>
            <a:xfrm rot="18900000">
              <a:off x="858415" y="5670469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8A21C557-D9B9-5222-0D17-40CA996A176A}"/>
              </a:ext>
            </a:extLst>
          </p:cNvPr>
          <p:cNvSpPr/>
          <p:nvPr/>
        </p:nvSpPr>
        <p:spPr>
          <a:xfrm>
            <a:off x="-6918650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372F64B9-7B23-5975-2782-10C59B5F7950}"/>
              </a:ext>
            </a:extLst>
          </p:cNvPr>
          <p:cNvSpPr/>
          <p:nvPr/>
        </p:nvSpPr>
        <p:spPr>
          <a:xfrm>
            <a:off x="-621768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B9CD704-E9D3-7512-8B6A-1B86361BAB0B}"/>
              </a:ext>
            </a:extLst>
          </p:cNvPr>
          <p:cNvSpPr/>
          <p:nvPr/>
        </p:nvSpPr>
        <p:spPr>
          <a:xfrm flipV="1">
            <a:off x="97613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E8A2AD5-40A6-5D41-56DE-21C8F19D8C02}"/>
              </a:ext>
            </a:extLst>
          </p:cNvPr>
          <p:cNvSpPr/>
          <p:nvPr/>
        </p:nvSpPr>
        <p:spPr>
          <a:xfrm flipV="1">
            <a:off x="10352365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1B56E0-5381-D023-1850-B42AC81110D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/>
              <a:t>¿</a:t>
            </a:r>
            <a:r>
              <a:rPr lang="es-ES" sz="4800" dirty="0">
                <a:latin typeface="Anta" pitchFamily="2" charset="0"/>
              </a:rPr>
              <a:t>Qué es?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0188919-FFDE-C2E1-F112-DDD10726735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Un programa diseñado para ayudar a los directores de Sesiones de Rol de </a:t>
            </a:r>
            <a:r>
              <a:rPr lang="es-ES" dirty="0" err="1">
                <a:latin typeface="Anta" pitchFamily="2" charset="0"/>
              </a:rPr>
              <a:t>LancerRPG</a:t>
            </a:r>
            <a:r>
              <a:rPr lang="es-ES" dirty="0">
                <a:latin typeface="Anta" pitchFamily="2" charset="0"/>
              </a:rPr>
              <a:t> a manejar de forma rápida y visual los distintos personajes del juego.</a:t>
            </a:r>
          </a:p>
        </p:txBody>
      </p:sp>
      <p:pic>
        <p:nvPicPr>
          <p:cNvPr id="4" name="Picture 2" descr="LANCER RPG | LANCER Wiki | Fandom">
            <a:extLst>
              <a:ext uri="{FF2B5EF4-FFF2-40B4-BE49-F238E27FC236}">
                <a16:creationId xmlns:a16="http://schemas.microsoft.com/office/drawing/2014/main" id="{845419F5-5B74-4529-68CF-F0B8FBF7A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792" y="2988279"/>
            <a:ext cx="2463849" cy="318868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66DCB22-19C4-8601-7770-104ECC96CFAA}"/>
              </a:ext>
            </a:extLst>
          </p:cNvPr>
          <p:cNvSpPr txBox="1">
            <a:spLocks/>
          </p:cNvSpPr>
          <p:nvPr/>
        </p:nvSpPr>
        <p:spPr>
          <a:xfrm>
            <a:off x="16825167" y="3405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Tecnologías Utilizadas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A43A798-9719-3085-34DA-14D13E0F3018}"/>
              </a:ext>
            </a:extLst>
          </p:cNvPr>
          <p:cNvSpPr txBox="1">
            <a:spLocks/>
          </p:cNvSpPr>
          <p:nvPr/>
        </p:nvSpPr>
        <p:spPr>
          <a:xfrm>
            <a:off x="1322656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El proyecto utiliza </a:t>
            </a:r>
            <a:r>
              <a:rPr lang="es-ES" dirty="0" err="1">
                <a:latin typeface="Anta" pitchFamily="2" charset="0"/>
              </a:rPr>
              <a:t>React</a:t>
            </a:r>
            <a:r>
              <a:rPr lang="es-ES" dirty="0">
                <a:latin typeface="Anta" pitchFamily="2" charset="0"/>
              </a:rPr>
              <a:t> en conjunto con la herramienta de compilación Vite, y para los estilos utiliza únicamente CSS. El manejo de datos y </a:t>
            </a:r>
            <a:r>
              <a:rPr lang="es-ES" dirty="0" err="1">
                <a:latin typeface="Anta" pitchFamily="2" charset="0"/>
              </a:rPr>
              <a:t>auntenticación</a:t>
            </a:r>
            <a:r>
              <a:rPr lang="es-ES" dirty="0">
                <a:latin typeface="Anta" pitchFamily="2" charset="0"/>
              </a:rPr>
              <a:t> se realiza en Google </a:t>
            </a:r>
            <a:r>
              <a:rPr lang="es-ES" dirty="0" err="1">
                <a:latin typeface="Anta" pitchFamily="2" charset="0"/>
              </a:rPr>
              <a:t>Firebase</a:t>
            </a:r>
            <a:r>
              <a:rPr lang="es-ES" dirty="0">
                <a:latin typeface="Anta" pitchFamily="2" charset="0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6990E4-B4D0-D97C-7577-BDA826E98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989" y="9473673"/>
            <a:ext cx="2640502" cy="26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A7C83E4-3B62-5C3A-37D0-59981AE4E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48" y="9589432"/>
            <a:ext cx="2640502" cy="235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24CDC54-1722-F8A9-2322-F04341829380}"/>
              </a:ext>
            </a:extLst>
          </p:cNvPr>
          <p:cNvSpPr txBox="1">
            <a:spLocks/>
          </p:cNvSpPr>
          <p:nvPr/>
        </p:nvSpPr>
        <p:spPr>
          <a:xfrm>
            <a:off x="1882872" y="12114290"/>
            <a:ext cx="1128654" cy="44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>
                <a:latin typeface="Anta" pitchFamily="2" charset="0"/>
              </a:rPr>
              <a:t>React</a:t>
            </a:r>
            <a:endParaRPr lang="es-ES" dirty="0">
              <a:latin typeface="Anta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84543A8-75CB-4E58-A5B7-7E8927BCE9A0}"/>
              </a:ext>
            </a:extLst>
          </p:cNvPr>
          <p:cNvSpPr txBox="1">
            <a:spLocks/>
          </p:cNvSpPr>
          <p:nvPr/>
        </p:nvSpPr>
        <p:spPr>
          <a:xfrm>
            <a:off x="9050913" y="12151405"/>
            <a:ext cx="1128654" cy="44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Vite</a:t>
            </a:r>
          </a:p>
        </p:txBody>
      </p:sp>
    </p:spTree>
    <p:extLst>
      <p:ext uri="{BB962C8B-B14F-4D97-AF65-F5344CB8AC3E}">
        <p14:creationId xmlns:p14="http://schemas.microsoft.com/office/powerpoint/2010/main" val="293137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CB738-BC81-BC6C-1C16-439F1AD3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8CFB13A-4FFA-D17B-44BE-B1AFC0ACAF17}"/>
              </a:ext>
            </a:extLst>
          </p:cNvPr>
          <p:cNvGrpSpPr/>
          <p:nvPr/>
        </p:nvGrpSpPr>
        <p:grpSpPr>
          <a:xfrm rot="54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B97CE88-9554-DE22-C472-FF590F5D0E5F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EDE1DA1A-940C-97FD-5C4D-C86D17D30E55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F0854000-C56C-89B7-9414-A3A39DAAE69A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936F59BC-A42C-0084-30E1-CEB70F6BAB41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41B4E7-6968-8AA3-A2D2-E5F6FC17E2DA}"/>
                </a:ext>
              </a:extLst>
            </p:cNvPr>
            <p:cNvSpPr/>
            <p:nvPr/>
          </p:nvSpPr>
          <p:spPr>
            <a:xfrm rot="16200000">
              <a:off x="858415" y="5670468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0B626DE-136F-A849-806E-53D81701223C}"/>
              </a:ext>
            </a:extLst>
          </p:cNvPr>
          <p:cNvSpPr/>
          <p:nvPr/>
        </p:nvSpPr>
        <p:spPr>
          <a:xfrm>
            <a:off x="-6918650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E738103-598C-526B-9BD4-A487ECA4CBE5}"/>
              </a:ext>
            </a:extLst>
          </p:cNvPr>
          <p:cNvSpPr/>
          <p:nvPr/>
        </p:nvSpPr>
        <p:spPr>
          <a:xfrm>
            <a:off x="-621768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B74A47D4-1800-292F-85EB-7EDE425CCA56}"/>
              </a:ext>
            </a:extLst>
          </p:cNvPr>
          <p:cNvSpPr/>
          <p:nvPr/>
        </p:nvSpPr>
        <p:spPr>
          <a:xfrm flipV="1">
            <a:off x="9469016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F61E2583-5D29-1770-878C-E328E1619F4D}"/>
              </a:ext>
            </a:extLst>
          </p:cNvPr>
          <p:cNvSpPr/>
          <p:nvPr/>
        </p:nvSpPr>
        <p:spPr>
          <a:xfrm flipV="1">
            <a:off x="10833359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FA8C07D-F73F-5B07-EFE4-38046D6EF7AD}"/>
              </a:ext>
            </a:extLst>
          </p:cNvPr>
          <p:cNvSpPr txBox="1">
            <a:spLocks/>
          </p:cNvSpPr>
          <p:nvPr/>
        </p:nvSpPr>
        <p:spPr>
          <a:xfrm>
            <a:off x="838200" y="-41773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/>
              <a:t>¿</a:t>
            </a:r>
            <a:r>
              <a:rPr lang="es-ES" sz="4800" dirty="0">
                <a:latin typeface="Anta" pitchFamily="2" charset="0"/>
              </a:rPr>
              <a:t>Qué es?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1B375A-E82F-B736-4CEC-7A362D8458F1}"/>
              </a:ext>
            </a:extLst>
          </p:cNvPr>
          <p:cNvSpPr txBox="1">
            <a:spLocks/>
          </p:cNvSpPr>
          <p:nvPr/>
        </p:nvSpPr>
        <p:spPr>
          <a:xfrm>
            <a:off x="-11148256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Un programa diseñado para ayudar a los directores de Sesiones de Rol de </a:t>
            </a:r>
            <a:r>
              <a:rPr lang="es-ES" dirty="0" err="1">
                <a:latin typeface="Anta" pitchFamily="2" charset="0"/>
              </a:rPr>
              <a:t>LancerRPG</a:t>
            </a:r>
            <a:r>
              <a:rPr lang="es-ES" dirty="0">
                <a:latin typeface="Anta" pitchFamily="2" charset="0"/>
              </a:rPr>
              <a:t> a manejar de forma rápida y visual los distintos personajes del juego.</a:t>
            </a:r>
          </a:p>
        </p:txBody>
      </p:sp>
      <p:pic>
        <p:nvPicPr>
          <p:cNvPr id="4" name="Picture 2" descr="LANCER RPG | LANCER Wiki | Fandom">
            <a:extLst>
              <a:ext uri="{FF2B5EF4-FFF2-40B4-BE49-F238E27FC236}">
                <a16:creationId xmlns:a16="http://schemas.microsoft.com/office/drawing/2014/main" id="{DE9D33CA-E2E2-7210-9D03-C89EC4BA5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792" y="7820246"/>
            <a:ext cx="2463849" cy="318868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836CC9-FB11-F294-4098-69BFFD82A01D}"/>
              </a:ext>
            </a:extLst>
          </p:cNvPr>
          <p:cNvSpPr txBox="1">
            <a:spLocks/>
          </p:cNvSpPr>
          <p:nvPr/>
        </p:nvSpPr>
        <p:spPr>
          <a:xfrm>
            <a:off x="838200" y="3405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Tecnologías Utilizadas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8C38CFD-E869-FF6F-0698-C90DE659846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El proyecto utiliza </a:t>
            </a:r>
            <a:r>
              <a:rPr lang="es-ES" dirty="0" err="1">
                <a:latin typeface="Anta" pitchFamily="2" charset="0"/>
              </a:rPr>
              <a:t>React</a:t>
            </a:r>
            <a:r>
              <a:rPr lang="es-ES" dirty="0">
                <a:latin typeface="Anta" pitchFamily="2" charset="0"/>
              </a:rPr>
              <a:t> en conjunto con la herramienta de compilación Vite, y para los estilos utiliza únicamente CSS. El manejo de datos y </a:t>
            </a:r>
            <a:r>
              <a:rPr lang="es-ES" dirty="0" err="1">
                <a:latin typeface="Anta" pitchFamily="2" charset="0"/>
              </a:rPr>
              <a:t>auntenticación</a:t>
            </a:r>
            <a:r>
              <a:rPr lang="es-ES" dirty="0">
                <a:latin typeface="Anta" pitchFamily="2" charset="0"/>
              </a:rPr>
              <a:t> se realiza en Google </a:t>
            </a:r>
            <a:r>
              <a:rPr lang="es-ES" dirty="0" err="1">
                <a:latin typeface="Anta" pitchFamily="2" charset="0"/>
              </a:rPr>
              <a:t>Firebase</a:t>
            </a:r>
            <a:r>
              <a:rPr lang="es-ES" dirty="0">
                <a:latin typeface="Anta" pitchFamily="2" charset="0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265534-17AD-8818-1346-34B5A1C9C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989" y="3148720"/>
            <a:ext cx="2640502" cy="26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6F1BCCF-E0FF-E4FC-6362-B87F62384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48" y="3264479"/>
            <a:ext cx="2640502" cy="235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14B8F6F-E46E-0434-C452-A7514A9F5C7B}"/>
              </a:ext>
            </a:extLst>
          </p:cNvPr>
          <p:cNvSpPr txBox="1">
            <a:spLocks/>
          </p:cNvSpPr>
          <p:nvPr/>
        </p:nvSpPr>
        <p:spPr>
          <a:xfrm>
            <a:off x="1882872" y="5789337"/>
            <a:ext cx="1128654" cy="44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>
                <a:latin typeface="Anta" pitchFamily="2" charset="0"/>
              </a:rPr>
              <a:t>React</a:t>
            </a:r>
            <a:endParaRPr lang="es-ES" dirty="0">
              <a:latin typeface="Anta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9481B47-B781-B596-A72C-77410FEB7FCA}"/>
              </a:ext>
            </a:extLst>
          </p:cNvPr>
          <p:cNvSpPr txBox="1">
            <a:spLocks/>
          </p:cNvSpPr>
          <p:nvPr/>
        </p:nvSpPr>
        <p:spPr>
          <a:xfrm>
            <a:off x="9050913" y="5826452"/>
            <a:ext cx="1128654" cy="44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Vite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37F7FA8-EE60-8ED6-F0E6-B3D007750EEB}"/>
              </a:ext>
            </a:extLst>
          </p:cNvPr>
          <p:cNvSpPr txBox="1">
            <a:spLocks/>
          </p:cNvSpPr>
          <p:nvPr/>
        </p:nvSpPr>
        <p:spPr>
          <a:xfrm>
            <a:off x="16063463" y="345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Motivación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D93A8F7-77EB-A9A4-AC46-E576DE537EE1}"/>
              </a:ext>
            </a:extLst>
          </p:cNvPr>
          <p:cNvSpPr txBox="1">
            <a:spLocks/>
          </p:cNvSpPr>
          <p:nvPr/>
        </p:nvSpPr>
        <p:spPr>
          <a:xfrm>
            <a:off x="14677114" y="1801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Mi objetivo principal al hacer este programa es facilitar y agilizar las sesiones de rol, debido a que es un hobby que consume mucho tiempo y puede complicarse bastante. </a:t>
            </a:r>
          </a:p>
          <a:p>
            <a:pPr algn="just"/>
            <a:r>
              <a:rPr lang="es-ES" dirty="0">
                <a:latin typeface="Anta" pitchFamily="2" charset="0"/>
              </a:rPr>
              <a:t>El programa facilita cálculos, simplifica acciones y maneja todo de forma visual.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B610B13-D690-194C-2AAD-E5880C51D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211" y="13567217"/>
            <a:ext cx="3074356" cy="2374703"/>
          </a:xfrm>
          <a:prstGeom prst="rect">
            <a:avLst/>
          </a:prstGeom>
        </p:spPr>
      </p:pic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8D87AFC-6C71-B5DD-CD1E-F298C06F92DA}"/>
              </a:ext>
            </a:extLst>
          </p:cNvPr>
          <p:cNvSpPr txBox="1">
            <a:spLocks/>
          </p:cNvSpPr>
          <p:nvPr/>
        </p:nvSpPr>
        <p:spPr>
          <a:xfrm>
            <a:off x="7905383" y="15941920"/>
            <a:ext cx="1474012" cy="45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Créditos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5B1B3F2-13F1-5E5D-FF2A-FA82D0629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2872" y="8233105"/>
            <a:ext cx="2884738" cy="236296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76EEA25-418A-B235-897B-9090C6E5BF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0047739"/>
            <a:ext cx="4893098" cy="237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23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DAE12-7D30-8232-7002-A8E9A981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B3639CA-F74B-BA6E-9918-E28D219E4ECC}"/>
              </a:ext>
            </a:extLst>
          </p:cNvPr>
          <p:cNvGrpSpPr/>
          <p:nvPr/>
        </p:nvGrpSpPr>
        <p:grpSpPr>
          <a:xfrm rot="81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CB8BC53-8194-D069-58C7-028AC261E680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C8DD8CB7-F80C-D8D5-B3C8-0FC408EB8FC3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7D519962-C71D-B597-5905-66EDB22F91EF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63CBA9C6-BB27-D28D-3395-46373F61F0B5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7F2453-15F5-8E95-D1D4-B8D21526908B}"/>
                </a:ext>
              </a:extLst>
            </p:cNvPr>
            <p:cNvSpPr/>
            <p:nvPr/>
          </p:nvSpPr>
          <p:spPr>
            <a:xfrm rot="13500000">
              <a:off x="858415" y="5670467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E64C3750-42F2-7462-4CAC-91B9401195A1}"/>
              </a:ext>
            </a:extLst>
          </p:cNvPr>
          <p:cNvSpPr/>
          <p:nvPr/>
        </p:nvSpPr>
        <p:spPr>
          <a:xfrm>
            <a:off x="-3565639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65602F82-3410-8C64-25BB-1B42C9DE680D}"/>
              </a:ext>
            </a:extLst>
          </p:cNvPr>
          <p:cNvSpPr/>
          <p:nvPr/>
        </p:nvSpPr>
        <p:spPr>
          <a:xfrm>
            <a:off x="-419544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ADE7FD8-BC7F-3794-44CC-7666ECC9AE68}"/>
              </a:ext>
            </a:extLst>
          </p:cNvPr>
          <p:cNvSpPr/>
          <p:nvPr/>
        </p:nvSpPr>
        <p:spPr>
          <a:xfrm flipV="1">
            <a:off x="97613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B0B4F38-628C-52D3-26D8-79ED2F3F5E14}"/>
              </a:ext>
            </a:extLst>
          </p:cNvPr>
          <p:cNvSpPr/>
          <p:nvPr/>
        </p:nvSpPr>
        <p:spPr>
          <a:xfrm flipV="1">
            <a:off x="11125718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8389621-C4FA-DF26-70BA-58464A078DC1}"/>
              </a:ext>
            </a:extLst>
          </p:cNvPr>
          <p:cNvSpPr txBox="1">
            <a:spLocks/>
          </p:cNvSpPr>
          <p:nvPr/>
        </p:nvSpPr>
        <p:spPr>
          <a:xfrm>
            <a:off x="-13795618" y="3405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Tecnologías Utilizadas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C51AC3-E852-9055-E0FA-1424797ACBD8}"/>
              </a:ext>
            </a:extLst>
          </p:cNvPr>
          <p:cNvSpPr txBox="1">
            <a:spLocks/>
          </p:cNvSpPr>
          <p:nvPr/>
        </p:nvSpPr>
        <p:spPr>
          <a:xfrm>
            <a:off x="-1074433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El proyecto utiliza </a:t>
            </a:r>
            <a:r>
              <a:rPr lang="es-ES" dirty="0" err="1">
                <a:latin typeface="Anta" pitchFamily="2" charset="0"/>
              </a:rPr>
              <a:t>React</a:t>
            </a:r>
            <a:r>
              <a:rPr lang="es-ES" dirty="0">
                <a:latin typeface="Anta" pitchFamily="2" charset="0"/>
              </a:rPr>
              <a:t> en conjunto con la herramienta de compilación Vite, y para los estilos utiliza únicamente CSS. El manejo de datos y </a:t>
            </a:r>
            <a:r>
              <a:rPr lang="es-ES" dirty="0" err="1">
                <a:latin typeface="Anta" pitchFamily="2" charset="0"/>
              </a:rPr>
              <a:t>auntenticación</a:t>
            </a:r>
            <a:r>
              <a:rPr lang="es-ES" dirty="0">
                <a:latin typeface="Anta" pitchFamily="2" charset="0"/>
              </a:rPr>
              <a:t> se realiza en Google </a:t>
            </a:r>
            <a:r>
              <a:rPr lang="es-ES" dirty="0" err="1">
                <a:latin typeface="Anta" pitchFamily="2" charset="0"/>
              </a:rPr>
              <a:t>Firebase</a:t>
            </a:r>
            <a:r>
              <a:rPr lang="es-ES" dirty="0">
                <a:latin typeface="Anta" pitchFamily="2" charset="0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79FC6F-441D-6BE7-E05A-C5F78F1D9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3647" y="2834211"/>
            <a:ext cx="2640502" cy="26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0279D4E-60AA-9604-71E4-EFAE8367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95009" y="2949970"/>
            <a:ext cx="2640502" cy="235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2D72BE7-FE55-730E-CD7B-B7F2A19EDF8F}"/>
              </a:ext>
            </a:extLst>
          </p:cNvPr>
          <p:cNvSpPr txBox="1">
            <a:spLocks/>
          </p:cNvSpPr>
          <p:nvPr/>
        </p:nvSpPr>
        <p:spPr>
          <a:xfrm>
            <a:off x="-3939085" y="5474828"/>
            <a:ext cx="1128654" cy="44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>
                <a:latin typeface="Anta" pitchFamily="2" charset="0"/>
              </a:rPr>
              <a:t>React</a:t>
            </a:r>
            <a:endParaRPr lang="es-ES" dirty="0">
              <a:latin typeface="Anta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7239DCE-9874-0130-8E38-D0857D00D2F3}"/>
              </a:ext>
            </a:extLst>
          </p:cNvPr>
          <p:cNvSpPr txBox="1">
            <a:spLocks/>
          </p:cNvSpPr>
          <p:nvPr/>
        </p:nvSpPr>
        <p:spPr>
          <a:xfrm>
            <a:off x="16749571" y="5511943"/>
            <a:ext cx="1128654" cy="44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Vite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9137E75-D7A9-69E1-6282-D9247D75F62F}"/>
              </a:ext>
            </a:extLst>
          </p:cNvPr>
          <p:cNvSpPr txBox="1">
            <a:spLocks/>
          </p:cNvSpPr>
          <p:nvPr/>
        </p:nvSpPr>
        <p:spPr>
          <a:xfrm>
            <a:off x="838200" y="345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Motivación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AC60ACE-945A-B4BB-6C47-65EDD1774CB1}"/>
              </a:ext>
            </a:extLst>
          </p:cNvPr>
          <p:cNvSpPr txBox="1">
            <a:spLocks/>
          </p:cNvSpPr>
          <p:nvPr/>
        </p:nvSpPr>
        <p:spPr>
          <a:xfrm>
            <a:off x="838200" y="1801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Mi objetivo principal al hacer este programa es facilitar y agilizar las sesiones de rol, debido a que es un hobby que consume mucho tiempo y puede complicarse bastante. </a:t>
            </a:r>
          </a:p>
          <a:p>
            <a:pPr algn="just"/>
            <a:r>
              <a:rPr lang="es-ES" dirty="0">
                <a:latin typeface="Anta" pitchFamily="2" charset="0"/>
              </a:rPr>
              <a:t>El programa facilita cálculos, simplifica acciones y maneja todo de forma visual.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8C16715-669E-3F30-90E7-615B3915E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872" y="3789415"/>
            <a:ext cx="2884738" cy="236296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D8B5C16-07DD-B4B6-8B07-848B209EA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68243"/>
            <a:ext cx="4893098" cy="237470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5D05E2F-8AE3-3AD5-6105-D3E6DF7C6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394" y="11481621"/>
            <a:ext cx="3634095" cy="187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5F3309A-3090-CE40-B20E-E35DC1DC97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739" y="15245350"/>
            <a:ext cx="3074356" cy="2374703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BB68EB8-2E91-65E7-6CE4-883310BA54A7}"/>
              </a:ext>
            </a:extLst>
          </p:cNvPr>
          <p:cNvSpPr txBox="1">
            <a:spLocks/>
          </p:cNvSpPr>
          <p:nvPr/>
        </p:nvSpPr>
        <p:spPr>
          <a:xfrm>
            <a:off x="7648911" y="17620053"/>
            <a:ext cx="1474012" cy="45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Créditos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8E039965-5F5F-E330-73C2-1F2C9D53B5F3}"/>
              </a:ext>
            </a:extLst>
          </p:cNvPr>
          <p:cNvSpPr txBox="1">
            <a:spLocks/>
          </p:cNvSpPr>
          <p:nvPr/>
        </p:nvSpPr>
        <p:spPr>
          <a:xfrm>
            <a:off x="13379252" y="3503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Funcionamiento Principal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5FA75C41-5251-4FC2-9394-124293591AF1}"/>
              </a:ext>
            </a:extLst>
          </p:cNvPr>
          <p:cNvSpPr txBox="1">
            <a:spLocks/>
          </p:cNvSpPr>
          <p:nvPr/>
        </p:nvSpPr>
        <p:spPr>
          <a:xfrm>
            <a:off x="17980750" y="18059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consiste de dos pantallas, la principal, y la pantalla de juego. La pantalla principal contiene Botones para iniciar un nuevo juego, cargar uno existente, iniciar sesión y ver los créditos.</a:t>
            </a:r>
          </a:p>
        </p:txBody>
      </p:sp>
    </p:spTree>
    <p:extLst>
      <p:ext uri="{BB962C8B-B14F-4D97-AF65-F5344CB8AC3E}">
        <p14:creationId xmlns:p14="http://schemas.microsoft.com/office/powerpoint/2010/main" val="3978132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C7A2F-C8A5-F971-B9AF-EFB4ABAF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CE11A-B4D1-4ECE-108C-05845949C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872" y="7401230"/>
            <a:ext cx="2884738" cy="236296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D99999B-2415-8E02-92F9-85384D9FF090}"/>
              </a:ext>
            </a:extLst>
          </p:cNvPr>
          <p:cNvGrpSpPr/>
          <p:nvPr/>
        </p:nvGrpSpPr>
        <p:grpSpPr>
          <a:xfrm rot="108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2CF8F6B-0DE3-9791-BDF5-D6DF31F904DE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5A712AD4-F1B1-DA35-494A-EB557BE07DD9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2737B3ED-5780-755C-D5CF-F5D55D34EBFA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21E25132-5DBC-7CF1-903C-CA8959B3F2E2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1A64581-19FE-F844-89E7-CCA8580F4E6A}"/>
                </a:ext>
              </a:extLst>
            </p:cNvPr>
            <p:cNvSpPr/>
            <p:nvPr/>
          </p:nvSpPr>
          <p:spPr>
            <a:xfrm rot="10800000">
              <a:off x="858414" y="5670467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EC0F83A-51D0-3D3A-5D0A-DBDAB74DF9DC}"/>
              </a:ext>
            </a:extLst>
          </p:cNvPr>
          <p:cNvSpPr/>
          <p:nvPr/>
        </p:nvSpPr>
        <p:spPr>
          <a:xfrm>
            <a:off x="-3565639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5B99178A-E2E8-B835-B1B3-7B41282A2421}"/>
              </a:ext>
            </a:extLst>
          </p:cNvPr>
          <p:cNvSpPr/>
          <p:nvPr/>
        </p:nvSpPr>
        <p:spPr>
          <a:xfrm>
            <a:off x="-419544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38BF74-78DA-0C9A-A5A6-DF0B189DE245}"/>
              </a:ext>
            </a:extLst>
          </p:cNvPr>
          <p:cNvSpPr/>
          <p:nvPr/>
        </p:nvSpPr>
        <p:spPr>
          <a:xfrm flipV="1">
            <a:off x="97613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4914CA1-70F4-366A-8BB7-E84C41AD8F48}"/>
              </a:ext>
            </a:extLst>
          </p:cNvPr>
          <p:cNvSpPr/>
          <p:nvPr/>
        </p:nvSpPr>
        <p:spPr>
          <a:xfrm flipV="1">
            <a:off x="11125718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0C50870-9793-708E-EFE4-53F6619FC7DF}"/>
              </a:ext>
            </a:extLst>
          </p:cNvPr>
          <p:cNvSpPr txBox="1">
            <a:spLocks/>
          </p:cNvSpPr>
          <p:nvPr/>
        </p:nvSpPr>
        <p:spPr>
          <a:xfrm>
            <a:off x="838200" y="345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Funcionamiento Principal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D1CF9D9-55DD-A0FE-7C9A-5ECF11FE88F2}"/>
              </a:ext>
            </a:extLst>
          </p:cNvPr>
          <p:cNvSpPr txBox="1">
            <a:spLocks/>
          </p:cNvSpPr>
          <p:nvPr/>
        </p:nvSpPr>
        <p:spPr>
          <a:xfrm>
            <a:off x="838200" y="1801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consiste de dos pantallas, la principal, y la pantalla de juego. La pantalla principal contiene Botones para iniciar un nuevo juego, cargar uno existente, iniciar sesión y ver los créditos.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812E6C-8007-4B5A-35A3-06D0D379D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866" y="3429000"/>
            <a:ext cx="3634095" cy="187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800487-B175-7D68-ADE5-2C61F720A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211" y="3181167"/>
            <a:ext cx="3074356" cy="2374703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52FA1F7-D87C-BFFC-2541-2D33687179B9}"/>
              </a:ext>
            </a:extLst>
          </p:cNvPr>
          <p:cNvSpPr txBox="1">
            <a:spLocks/>
          </p:cNvSpPr>
          <p:nvPr/>
        </p:nvSpPr>
        <p:spPr>
          <a:xfrm>
            <a:off x="7905383" y="5555870"/>
            <a:ext cx="1474012" cy="45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Créditos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9D117F8-738D-098A-E1E8-57548B3233A5}"/>
              </a:ext>
            </a:extLst>
          </p:cNvPr>
          <p:cNvSpPr txBox="1">
            <a:spLocks/>
          </p:cNvSpPr>
          <p:nvPr/>
        </p:nvSpPr>
        <p:spPr>
          <a:xfrm>
            <a:off x="1281305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Estar </a:t>
            </a:r>
            <a:r>
              <a:rPr lang="es-ES" dirty="0" err="1">
                <a:latin typeface="Anta" pitchFamily="2" charset="0"/>
              </a:rPr>
              <a:t>logueado</a:t>
            </a:r>
            <a:r>
              <a:rPr lang="es-ES" dirty="0">
                <a:latin typeface="Anta" pitchFamily="2" charset="0"/>
              </a:rPr>
              <a:t> permite a un usuario Guardar y Cargar Sesiones, Crear Mechas (Personajes) nuevos, y crear para ellos armas o sistemas.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B462937-0317-8190-F4BB-A28F1B450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990" y="7780338"/>
            <a:ext cx="2015373" cy="18223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892C889-6215-8ED3-8929-EA91C03B4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3292" y="9229375"/>
            <a:ext cx="1868241" cy="21153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6C498D-A785-AB31-B203-61707CEAC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101" y="11957021"/>
            <a:ext cx="5099699" cy="21153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6CE3B8-14F1-616C-E6A0-1BE9863DF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0024" y="10287030"/>
            <a:ext cx="4893098" cy="23747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EA7EF01-2060-8B49-F9BC-E2DD6790888B}"/>
              </a:ext>
            </a:extLst>
          </p:cNvPr>
          <p:cNvSpPr txBox="1">
            <a:spLocks/>
          </p:cNvSpPr>
          <p:nvPr/>
        </p:nvSpPr>
        <p:spPr>
          <a:xfrm>
            <a:off x="-17979868" y="3503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Motivación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3ED5D07-4223-389E-AC57-976DE977F2C5}"/>
              </a:ext>
            </a:extLst>
          </p:cNvPr>
          <p:cNvSpPr txBox="1">
            <a:spLocks/>
          </p:cNvSpPr>
          <p:nvPr/>
        </p:nvSpPr>
        <p:spPr>
          <a:xfrm>
            <a:off x="-13639810" y="18059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Mi objetivo principal al hacer este programa es facilitar y agilizar las sesiones de rol, debido a que es un hobby que consume mucho tiempo y puede complicarse bastante. </a:t>
            </a:r>
          </a:p>
          <a:p>
            <a:pPr algn="just"/>
            <a:r>
              <a:rPr lang="es-ES" dirty="0">
                <a:latin typeface="Anta" pitchFamily="2" charset="0"/>
              </a:rPr>
              <a:t>El programa facilita cálculos, simplifica acciones y maneja todo de forma visual.</a:t>
            </a:r>
          </a:p>
        </p:txBody>
      </p:sp>
    </p:spTree>
    <p:extLst>
      <p:ext uri="{BB962C8B-B14F-4D97-AF65-F5344CB8AC3E}">
        <p14:creationId xmlns:p14="http://schemas.microsoft.com/office/powerpoint/2010/main" val="350577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C89AE-8FAB-AB7D-3F3F-ACEF286B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333638B-72E0-7068-F65C-A6D500F45219}"/>
              </a:ext>
            </a:extLst>
          </p:cNvPr>
          <p:cNvGrpSpPr/>
          <p:nvPr/>
        </p:nvGrpSpPr>
        <p:grpSpPr>
          <a:xfrm rot="135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9CE649F-2331-7C37-DEE4-0D6201B14D7B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A3952C2B-8BBB-B1CB-BCB1-B7E417D183AF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90571DA9-26B3-02C9-0407-FC05D76D0C1E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685BBABA-2EAD-A1C4-F64B-603C57725AFF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8CCC02C-3838-3564-7F0A-78E34476582B}"/>
                </a:ext>
              </a:extLst>
            </p:cNvPr>
            <p:cNvSpPr/>
            <p:nvPr/>
          </p:nvSpPr>
          <p:spPr>
            <a:xfrm rot="8100000">
              <a:off x="858415" y="5670467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085D1E4-E56A-5D17-6434-195EF049DDA1}"/>
              </a:ext>
            </a:extLst>
          </p:cNvPr>
          <p:cNvSpPr/>
          <p:nvPr/>
        </p:nvSpPr>
        <p:spPr>
          <a:xfrm>
            <a:off x="-3565639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63CB171-A1A7-BE8F-1B96-31F12FB5E3E8}"/>
              </a:ext>
            </a:extLst>
          </p:cNvPr>
          <p:cNvSpPr/>
          <p:nvPr/>
        </p:nvSpPr>
        <p:spPr>
          <a:xfrm>
            <a:off x="-419544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3E193DD-B8EF-3E96-7279-79B591086857}"/>
              </a:ext>
            </a:extLst>
          </p:cNvPr>
          <p:cNvSpPr/>
          <p:nvPr/>
        </p:nvSpPr>
        <p:spPr>
          <a:xfrm flipV="1">
            <a:off x="97613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97AF983-4AF2-2D49-987C-130FD2E3448A}"/>
              </a:ext>
            </a:extLst>
          </p:cNvPr>
          <p:cNvSpPr/>
          <p:nvPr/>
        </p:nvSpPr>
        <p:spPr>
          <a:xfrm flipV="1">
            <a:off x="11125718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ADE29FC-5C7C-4D50-F02C-237BB39A7C52}"/>
              </a:ext>
            </a:extLst>
          </p:cNvPr>
          <p:cNvSpPr txBox="1">
            <a:spLocks/>
          </p:cNvSpPr>
          <p:nvPr/>
        </p:nvSpPr>
        <p:spPr>
          <a:xfrm>
            <a:off x="838200" y="345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Funcionamiento Principal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F22462A-8BF7-3008-14FA-3D7EC13DCF33}"/>
              </a:ext>
            </a:extLst>
          </p:cNvPr>
          <p:cNvSpPr txBox="1">
            <a:spLocks/>
          </p:cNvSpPr>
          <p:nvPr/>
        </p:nvSpPr>
        <p:spPr>
          <a:xfrm>
            <a:off x="-12014913" y="1801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consiste de dos pantallas, la principal, y la pantalla de juego. La pantalla principal contiene Botones para iniciar un nuevo juego, cargar uno existente, iniciar sesión y ver los créditos.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2DF13-82EF-3BD4-C6B0-1751B607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09478" y="3429000"/>
            <a:ext cx="3634095" cy="187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8086CF-74D5-A3A1-FAC9-358824ED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5360" y="3181167"/>
            <a:ext cx="3074356" cy="2374703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655AD1F-F8DE-4763-F1A8-843E425F854D}"/>
              </a:ext>
            </a:extLst>
          </p:cNvPr>
          <p:cNvSpPr txBox="1">
            <a:spLocks/>
          </p:cNvSpPr>
          <p:nvPr/>
        </p:nvSpPr>
        <p:spPr>
          <a:xfrm>
            <a:off x="15765360" y="5555870"/>
            <a:ext cx="1474012" cy="452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nta" pitchFamily="2" charset="0"/>
              </a:rPr>
              <a:t>Créditos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9D91A4-BD0B-BF22-C326-F27C31F2F53C}"/>
              </a:ext>
            </a:extLst>
          </p:cNvPr>
          <p:cNvSpPr txBox="1">
            <a:spLocks/>
          </p:cNvSpPr>
          <p:nvPr/>
        </p:nvSpPr>
        <p:spPr>
          <a:xfrm>
            <a:off x="89303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Estar </a:t>
            </a:r>
            <a:r>
              <a:rPr lang="es-ES" dirty="0" err="1">
                <a:latin typeface="Anta" pitchFamily="2" charset="0"/>
              </a:rPr>
              <a:t>logueado</a:t>
            </a:r>
            <a:r>
              <a:rPr lang="es-ES" dirty="0">
                <a:latin typeface="Anta" pitchFamily="2" charset="0"/>
              </a:rPr>
              <a:t> permite a un usuario Guardar y Cargar Sesiones, Crear Mechas (Personajes) nuevos, y crear para ellos armas o sistemas.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83EC55-CF5E-CA34-4B05-B962AFA3A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487" y="3065553"/>
            <a:ext cx="2015373" cy="1822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32ED635-0BCB-9DA1-02ED-5792D208D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789" y="2947613"/>
            <a:ext cx="1868241" cy="21153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F2A3B77-C26A-7EDC-D2F6-EF127E109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622" y="2947613"/>
            <a:ext cx="5099699" cy="21153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C56F95-E421-AA3B-CEBB-08EE5B53592A}"/>
              </a:ext>
            </a:extLst>
          </p:cNvPr>
          <p:cNvSpPr txBox="1">
            <a:spLocks/>
          </p:cNvSpPr>
          <p:nvPr/>
        </p:nvSpPr>
        <p:spPr>
          <a:xfrm>
            <a:off x="14024020" y="180104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tiene una calculadora de tiros de dado integrada que el usuario puede usar a conveniencia, y también lleva los cálculos internos de las rondas del juego y como puede afectar a los personajes.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1FDC18-DD19-5C6F-6587-4CD3F0D76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4094" y="8069997"/>
            <a:ext cx="3462815" cy="26838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484A41-D339-2204-7AA1-F95215548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237" y="10195822"/>
            <a:ext cx="4201111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01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CE878-247B-FC0C-F563-1B10BFBB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6B6BC42-E108-1E85-21A2-D5D9DB11D834}"/>
              </a:ext>
            </a:extLst>
          </p:cNvPr>
          <p:cNvGrpSpPr/>
          <p:nvPr/>
        </p:nvGrpSpPr>
        <p:grpSpPr>
          <a:xfrm rot="162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4D906A1-6654-F8AD-F71F-9953F82ABD33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B862E9F9-0717-F74C-B023-CBDD2349BA01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33879B45-42A9-3784-E2B7-06AB7CF36DC4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62F7F800-97B9-2FAA-9CB2-AB37FD0ACF0E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85D5064-6119-5101-D9C6-6CEE7A4122E7}"/>
                </a:ext>
              </a:extLst>
            </p:cNvPr>
            <p:cNvSpPr/>
            <p:nvPr/>
          </p:nvSpPr>
          <p:spPr>
            <a:xfrm rot="5400000">
              <a:off x="858414" y="5670467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F4A918-5459-0A85-C5D0-C923E5411D4E}"/>
              </a:ext>
            </a:extLst>
          </p:cNvPr>
          <p:cNvSpPr/>
          <p:nvPr/>
        </p:nvSpPr>
        <p:spPr>
          <a:xfrm>
            <a:off x="-3565639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DA67AEF4-00FB-DCD4-811C-3D2B9F72236A}"/>
              </a:ext>
            </a:extLst>
          </p:cNvPr>
          <p:cNvSpPr/>
          <p:nvPr/>
        </p:nvSpPr>
        <p:spPr>
          <a:xfrm>
            <a:off x="-419544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1F04097-6270-D6DA-A6BD-6A23A808D9FF}"/>
              </a:ext>
            </a:extLst>
          </p:cNvPr>
          <p:cNvSpPr/>
          <p:nvPr/>
        </p:nvSpPr>
        <p:spPr>
          <a:xfrm flipV="1">
            <a:off x="97613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731D0AB4-934A-ED92-CE65-373788DB4250}"/>
              </a:ext>
            </a:extLst>
          </p:cNvPr>
          <p:cNvSpPr/>
          <p:nvPr/>
        </p:nvSpPr>
        <p:spPr>
          <a:xfrm flipV="1">
            <a:off x="11125718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DF4F72B-A84A-CEB9-2DB0-0D51E5CB4E00}"/>
              </a:ext>
            </a:extLst>
          </p:cNvPr>
          <p:cNvSpPr txBox="1">
            <a:spLocks/>
          </p:cNvSpPr>
          <p:nvPr/>
        </p:nvSpPr>
        <p:spPr>
          <a:xfrm>
            <a:off x="838200" y="3454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Funcionamiento Principal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ACB8C15-3502-3BF6-F6A7-19DECE57B912}"/>
              </a:ext>
            </a:extLst>
          </p:cNvPr>
          <p:cNvSpPr txBox="1">
            <a:spLocks/>
          </p:cNvSpPr>
          <p:nvPr/>
        </p:nvSpPr>
        <p:spPr>
          <a:xfrm>
            <a:off x="-1283511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Estar </a:t>
            </a:r>
            <a:r>
              <a:rPr lang="es-ES" dirty="0" err="1">
                <a:latin typeface="Anta" pitchFamily="2" charset="0"/>
              </a:rPr>
              <a:t>logueado</a:t>
            </a:r>
            <a:r>
              <a:rPr lang="es-ES" dirty="0">
                <a:latin typeface="Anta" pitchFamily="2" charset="0"/>
              </a:rPr>
              <a:t> permite a un usuario Guardar y Cargar Sesiones, Crear Mechas (Personajes) nuevos, y crear para ellos armas o sistemas.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B460CA6-A9BB-9779-763D-A4C1B775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27199" y="3065553"/>
            <a:ext cx="2015373" cy="1822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4CD0F6-53D1-12FA-BE4F-92A09DF52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789" y="9696235"/>
            <a:ext cx="1868241" cy="21153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26D2BEC-D932-DF14-C3AD-041D9E85B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2624" y="2947613"/>
            <a:ext cx="5099699" cy="21153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D8F0C3-E753-5F36-B705-F70F4D73DA73}"/>
              </a:ext>
            </a:extLst>
          </p:cNvPr>
          <p:cNvSpPr txBox="1">
            <a:spLocks/>
          </p:cNvSpPr>
          <p:nvPr/>
        </p:nvSpPr>
        <p:spPr>
          <a:xfrm>
            <a:off x="936437" y="180104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tiene una calculadora de tiros de dado integrada que el usuario puede usar a conveniencia, y también lleva los cálculos internos de las rondas del juego y como puede afectar a los personajes.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789C9C-1C80-5CE0-C457-3471B09E9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094" y="3395775"/>
            <a:ext cx="3462815" cy="2683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7D4763-403D-4E8C-F904-81D765C5D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237" y="3323062"/>
            <a:ext cx="4201111" cy="2829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8E5BD8F-B92A-608C-6F64-5AED63DF192C}"/>
              </a:ext>
            </a:extLst>
          </p:cNvPr>
          <p:cNvSpPr txBox="1">
            <a:spLocks/>
          </p:cNvSpPr>
          <p:nvPr/>
        </p:nvSpPr>
        <p:spPr>
          <a:xfrm>
            <a:off x="13320261" y="3503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Créditos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CAC5F02-1DBF-DADD-BEAF-558A33F008CA}"/>
              </a:ext>
            </a:extLst>
          </p:cNvPr>
          <p:cNvSpPr txBox="1">
            <a:spLocks/>
          </p:cNvSpPr>
          <p:nvPr/>
        </p:nvSpPr>
        <p:spPr>
          <a:xfrm>
            <a:off x="16161699" y="18059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Todos los agradecimientos a </a:t>
            </a:r>
            <a:r>
              <a:rPr lang="es-ES" dirty="0" err="1">
                <a:latin typeface="Anta" pitchFamily="2" charset="0"/>
              </a:rPr>
              <a:t>Massif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Press</a:t>
            </a:r>
            <a:r>
              <a:rPr lang="es-ES" dirty="0">
                <a:latin typeface="Anta" pitchFamily="2" charset="0"/>
              </a:rPr>
              <a:t>, los creadores de </a:t>
            </a:r>
            <a:r>
              <a:rPr lang="es-ES" dirty="0" err="1">
                <a:latin typeface="Anta" pitchFamily="2" charset="0"/>
              </a:rPr>
              <a:t>LancerRPG</a:t>
            </a:r>
            <a:r>
              <a:rPr lang="es-ES" dirty="0">
                <a:latin typeface="Anta" pitchFamily="2" charset="0"/>
              </a:rPr>
              <a:t>; por permitir la creación de software por medio de la licencia </a:t>
            </a:r>
            <a:r>
              <a:rPr lang="es-ES" dirty="0" err="1">
                <a:latin typeface="Anta" pitchFamily="2" charset="0"/>
              </a:rPr>
              <a:t>Third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Party</a:t>
            </a:r>
            <a:r>
              <a:rPr lang="es-ES" dirty="0">
                <a:latin typeface="Anta" pitchFamily="2" charset="0"/>
              </a:rPr>
              <a:t>.</a:t>
            </a:r>
          </a:p>
        </p:txBody>
      </p:sp>
      <p:pic>
        <p:nvPicPr>
          <p:cNvPr id="3074" name="Picture 2" descr="Massif Press · GitHub">
            <a:extLst>
              <a:ext uri="{FF2B5EF4-FFF2-40B4-BE49-F238E27FC236}">
                <a16:creationId xmlns:a16="http://schemas.microsoft.com/office/drawing/2014/main" id="{5788D0FF-FC0B-646D-A334-C43DBD4A0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530" y="7850634"/>
            <a:ext cx="2667000" cy="2667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76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959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C97C8-5F5C-DB6D-DAFC-668EE55F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11B5A0-01CD-021F-3A33-44BEBF7A5B09}"/>
              </a:ext>
            </a:extLst>
          </p:cNvPr>
          <p:cNvGrpSpPr/>
          <p:nvPr/>
        </p:nvGrpSpPr>
        <p:grpSpPr>
          <a:xfrm rot="18900000">
            <a:off x="233232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D8037F-5877-BD46-3E3C-D34B54B0DF80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415330A0-2EC0-2521-70B7-A0707CFC9537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630EE449-D0F4-F0A2-E7CF-349C9A931B92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2CA9465E-312E-AB2B-BFC7-FDC01AAADB83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96C12D-1EDD-5AEC-C266-ACF51C3FD9E0}"/>
                </a:ext>
              </a:extLst>
            </p:cNvPr>
            <p:cNvSpPr/>
            <p:nvPr/>
          </p:nvSpPr>
          <p:spPr>
            <a:xfrm rot="2700000">
              <a:off x="858413" y="5670467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6E4EF8B-832D-86F1-4C29-007400AAB738}"/>
              </a:ext>
            </a:extLst>
          </p:cNvPr>
          <p:cNvSpPr/>
          <p:nvPr/>
        </p:nvSpPr>
        <p:spPr>
          <a:xfrm>
            <a:off x="-3565639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13E22477-05F4-B481-01C5-577338A7DD9A}"/>
              </a:ext>
            </a:extLst>
          </p:cNvPr>
          <p:cNvSpPr/>
          <p:nvPr/>
        </p:nvSpPr>
        <p:spPr>
          <a:xfrm>
            <a:off x="-419544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BC8BB36-D8A3-A8C3-958D-0BA1671F72A0}"/>
              </a:ext>
            </a:extLst>
          </p:cNvPr>
          <p:cNvSpPr/>
          <p:nvPr/>
        </p:nvSpPr>
        <p:spPr>
          <a:xfrm flipV="1">
            <a:off x="97613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73EB2159-4BAA-FA58-165C-35DAE32CA436}"/>
              </a:ext>
            </a:extLst>
          </p:cNvPr>
          <p:cNvSpPr/>
          <p:nvPr/>
        </p:nvSpPr>
        <p:spPr>
          <a:xfrm flipV="1">
            <a:off x="11125718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CB81DE1A-64BC-215E-3CE8-46D1FEC917FC}"/>
              </a:ext>
            </a:extLst>
          </p:cNvPr>
          <p:cNvSpPr txBox="1">
            <a:spLocks/>
          </p:cNvSpPr>
          <p:nvPr/>
        </p:nvSpPr>
        <p:spPr>
          <a:xfrm>
            <a:off x="838200" y="-23977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Funcionamiento Principal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E342B0-92F7-22F2-DDED-7917181A63AF}"/>
              </a:ext>
            </a:extLst>
          </p:cNvPr>
          <p:cNvSpPr txBox="1">
            <a:spLocks/>
          </p:cNvSpPr>
          <p:nvPr/>
        </p:nvSpPr>
        <p:spPr>
          <a:xfrm>
            <a:off x="936437" y="86201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tiene una calculadora de tiros de dado integrada que el usuario puede usar a conveniencia, y también lleva los cálculos internos de las rondas del juego y como puede afectar a los personajes.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3E18D3-496C-D849-CE1A-10A6A6815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94" y="25010118"/>
            <a:ext cx="3462815" cy="2683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BB47AB2-4BFE-C678-B8FD-C9462DDE0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37" y="10916605"/>
            <a:ext cx="4201111" cy="2829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B045243-B42E-1D94-9A9D-2F4EFB1700DA}"/>
              </a:ext>
            </a:extLst>
          </p:cNvPr>
          <p:cNvSpPr txBox="1">
            <a:spLocks/>
          </p:cNvSpPr>
          <p:nvPr/>
        </p:nvSpPr>
        <p:spPr>
          <a:xfrm>
            <a:off x="665805" y="3503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Créditos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54DB22F-6F51-4E44-D90E-EFC775D10C23}"/>
              </a:ext>
            </a:extLst>
          </p:cNvPr>
          <p:cNvSpPr txBox="1">
            <a:spLocks/>
          </p:cNvSpPr>
          <p:nvPr/>
        </p:nvSpPr>
        <p:spPr>
          <a:xfrm>
            <a:off x="838200" y="18059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Todos los agradecimientos a </a:t>
            </a:r>
            <a:r>
              <a:rPr lang="es-ES" dirty="0" err="1">
                <a:latin typeface="Anta" pitchFamily="2" charset="0"/>
              </a:rPr>
              <a:t>Massif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Press</a:t>
            </a:r>
            <a:r>
              <a:rPr lang="es-ES" dirty="0">
                <a:latin typeface="Anta" pitchFamily="2" charset="0"/>
              </a:rPr>
              <a:t>, los creadores de </a:t>
            </a:r>
            <a:r>
              <a:rPr lang="es-ES" dirty="0" err="1">
                <a:latin typeface="Anta" pitchFamily="2" charset="0"/>
              </a:rPr>
              <a:t>LancerRPG</a:t>
            </a:r>
            <a:r>
              <a:rPr lang="es-ES" dirty="0">
                <a:latin typeface="Anta" pitchFamily="2" charset="0"/>
              </a:rPr>
              <a:t>; por permitir la creación de software por medio de la licencia </a:t>
            </a:r>
            <a:r>
              <a:rPr lang="es-ES" dirty="0" err="1">
                <a:latin typeface="Anta" pitchFamily="2" charset="0"/>
              </a:rPr>
              <a:t>Third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Party</a:t>
            </a:r>
            <a:r>
              <a:rPr lang="es-ES" dirty="0">
                <a:latin typeface="Anta" pitchFamily="2" charset="0"/>
              </a:rPr>
              <a:t>.</a:t>
            </a:r>
          </a:p>
        </p:txBody>
      </p:sp>
      <p:pic>
        <p:nvPicPr>
          <p:cNvPr id="3074" name="Picture 2" descr="Massif Press · GitHub">
            <a:extLst>
              <a:ext uri="{FF2B5EF4-FFF2-40B4-BE49-F238E27FC236}">
                <a16:creationId xmlns:a16="http://schemas.microsoft.com/office/drawing/2014/main" id="{3C1A1BE9-2BB0-AF3D-1EC3-EF56FD843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530" y="3144820"/>
            <a:ext cx="2667000" cy="2667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76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A88796-1EAC-7714-4523-F02C4C085F9F}"/>
              </a:ext>
            </a:extLst>
          </p:cNvPr>
          <p:cNvSpPr txBox="1">
            <a:spLocks/>
          </p:cNvSpPr>
          <p:nvPr/>
        </p:nvSpPr>
        <p:spPr>
          <a:xfrm>
            <a:off x="-9453244" y="28095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787501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00000"/>
            </a:gs>
            <a:gs pos="17000">
              <a:srgbClr val="E6C4C4"/>
            </a:gs>
            <a:gs pos="29000">
              <a:srgbClr val="FBF9F7"/>
            </a:gs>
          </a:gsLst>
          <a:lin ang="162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C853B-0CDA-0C83-D280-07B8F92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93377DE-9B67-71B5-971A-A668A00714C4}"/>
              </a:ext>
            </a:extLst>
          </p:cNvPr>
          <p:cNvGrpSpPr/>
          <p:nvPr/>
        </p:nvGrpSpPr>
        <p:grpSpPr>
          <a:xfrm rot="18900000">
            <a:off x="-2426549" y="5276850"/>
            <a:ext cx="1069942" cy="1069942"/>
            <a:chOff x="214604" y="5026657"/>
            <a:chExt cx="1679510" cy="1679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9FADA3-FFF7-EF84-59E2-C69AAFE4FA77}"/>
                </a:ext>
              </a:extLst>
            </p:cNvPr>
            <p:cNvGrpSpPr/>
            <p:nvPr/>
          </p:nvGrpSpPr>
          <p:grpSpPr>
            <a:xfrm>
              <a:off x="214604" y="5026657"/>
              <a:ext cx="1679510" cy="1679510"/>
              <a:chOff x="699796" y="2526053"/>
              <a:chExt cx="1679510" cy="1679510"/>
            </a:xfrm>
            <a:solidFill>
              <a:srgbClr val="9A0000"/>
            </a:solidFill>
          </p:grpSpPr>
          <p:sp>
            <p:nvSpPr>
              <p:cNvPr id="6" name="Plaque 5">
                <a:extLst>
                  <a:ext uri="{FF2B5EF4-FFF2-40B4-BE49-F238E27FC236}">
                    <a16:creationId xmlns:a16="http://schemas.microsoft.com/office/drawing/2014/main" id="{F80BE39D-4421-0A4A-D867-5E68FA28C29D}"/>
                  </a:ext>
                </a:extLst>
              </p:cNvPr>
              <p:cNvSpPr/>
              <p:nvPr/>
            </p:nvSpPr>
            <p:spPr>
              <a:xfrm rot="2777934">
                <a:off x="699796" y="2537927"/>
                <a:ext cx="1679510" cy="1655762"/>
              </a:xfrm>
              <a:prstGeom prst="plaque">
                <a:avLst>
                  <a:gd name="adj" fmla="val 4115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" name="Plaque 4">
                <a:extLst>
                  <a:ext uri="{FF2B5EF4-FFF2-40B4-BE49-F238E27FC236}">
                    <a16:creationId xmlns:a16="http://schemas.microsoft.com/office/drawing/2014/main" id="{28079332-7ED9-F8EC-6FCE-49F8587E53D1}"/>
                  </a:ext>
                </a:extLst>
              </p:cNvPr>
              <p:cNvSpPr/>
              <p:nvPr/>
            </p:nvSpPr>
            <p:spPr>
              <a:xfrm>
                <a:off x="699796" y="2537927"/>
                <a:ext cx="1679510" cy="1655762"/>
              </a:xfrm>
              <a:prstGeom prst="plaque">
                <a:avLst>
                  <a:gd name="adj" fmla="val 4089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Octagon 6">
                <a:extLst>
                  <a:ext uri="{FF2B5EF4-FFF2-40B4-BE49-F238E27FC236}">
                    <a16:creationId xmlns:a16="http://schemas.microsoft.com/office/drawing/2014/main" id="{C5103395-34EB-2323-2BD1-FE8C62E3D991}"/>
                  </a:ext>
                </a:extLst>
              </p:cNvPr>
              <p:cNvSpPr/>
              <p:nvPr/>
            </p:nvSpPr>
            <p:spPr>
              <a:xfrm rot="1323922">
                <a:off x="886214" y="2736848"/>
                <a:ext cx="1309697" cy="1285605"/>
              </a:xfrm>
              <a:prstGeom prst="oct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15B15A-24AD-DF05-97DD-D21AFC2BEB68}"/>
                </a:ext>
              </a:extLst>
            </p:cNvPr>
            <p:cNvSpPr/>
            <p:nvPr/>
          </p:nvSpPr>
          <p:spPr>
            <a:xfrm rot="2700000">
              <a:off x="858413" y="5670467"/>
              <a:ext cx="391885" cy="391885"/>
            </a:xfrm>
            <a:prstGeom prst="ellipse">
              <a:avLst/>
            </a:prstGeom>
            <a:gradFill flip="none" rotWithShape="1">
              <a:gsLst>
                <a:gs pos="0">
                  <a:srgbClr val="C27070"/>
                </a:gs>
                <a:gs pos="50000">
                  <a:srgbClr val="F7EDED"/>
                </a:gs>
                <a:gs pos="100000">
                  <a:srgbClr val="FBF9F7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C0B6B16B-39C4-8632-7B10-0D5731287279}"/>
              </a:ext>
            </a:extLst>
          </p:cNvPr>
          <p:cNvSpPr/>
          <p:nvPr/>
        </p:nvSpPr>
        <p:spPr>
          <a:xfrm>
            <a:off x="-7772697" y="-1"/>
            <a:ext cx="4861249" cy="77115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0D61CE0-8F3A-E8DF-91BB-1E0D9C50E5A0}"/>
              </a:ext>
            </a:extLst>
          </p:cNvPr>
          <p:cNvSpPr/>
          <p:nvPr/>
        </p:nvSpPr>
        <p:spPr>
          <a:xfrm>
            <a:off x="-6024244" y="77115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A7F05A5-2F65-5748-F16E-2EA520F3434E}"/>
              </a:ext>
            </a:extLst>
          </p:cNvPr>
          <p:cNvSpPr/>
          <p:nvPr/>
        </p:nvSpPr>
        <p:spPr>
          <a:xfrm flipV="1">
            <a:off x="14523875" y="-1"/>
            <a:ext cx="4861249" cy="891919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83E32F4-561E-AD19-E28D-8BF80058B634}"/>
              </a:ext>
            </a:extLst>
          </p:cNvPr>
          <p:cNvSpPr/>
          <p:nvPr/>
        </p:nvSpPr>
        <p:spPr>
          <a:xfrm flipV="1">
            <a:off x="13830818" y="891918"/>
            <a:ext cx="4861249" cy="445960"/>
          </a:xfrm>
          <a:prstGeom prst="parallelogram">
            <a:avLst/>
          </a:prstGeom>
          <a:solidFill>
            <a:srgbClr val="9A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0745D0B-2032-4B69-F373-E89FD43E297A}"/>
              </a:ext>
            </a:extLst>
          </p:cNvPr>
          <p:cNvSpPr txBox="1">
            <a:spLocks/>
          </p:cNvSpPr>
          <p:nvPr/>
        </p:nvSpPr>
        <p:spPr>
          <a:xfrm>
            <a:off x="838200" y="-23977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Funcionamiento Principal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7183FA-C525-5A57-5D58-9A4A564DA3A0}"/>
              </a:ext>
            </a:extLst>
          </p:cNvPr>
          <p:cNvSpPr txBox="1">
            <a:spLocks/>
          </p:cNvSpPr>
          <p:nvPr/>
        </p:nvSpPr>
        <p:spPr>
          <a:xfrm>
            <a:off x="936437" y="86201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La página tiene una calculadora de tiros de dado integrada que el usuario puede usar a conveniencia, y también lleva los cálculos internos de las rondas del juego y como puede afectar a los personajes.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46008E-30BA-F572-D5D7-6698E63C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94" y="25010118"/>
            <a:ext cx="3462815" cy="2683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A397C0-A09B-13BE-A2C6-C85CEFE4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37" y="10916605"/>
            <a:ext cx="4201111" cy="2829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EE93A80-3BD9-8FAC-276C-4127414533A4}"/>
              </a:ext>
            </a:extLst>
          </p:cNvPr>
          <p:cNvSpPr txBox="1">
            <a:spLocks/>
          </p:cNvSpPr>
          <p:nvPr/>
        </p:nvSpPr>
        <p:spPr>
          <a:xfrm>
            <a:off x="665805" y="-15622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Créditos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CD8276E-19AF-508D-534C-CD188D8D3F5F}"/>
              </a:ext>
            </a:extLst>
          </p:cNvPr>
          <p:cNvSpPr txBox="1">
            <a:spLocks/>
          </p:cNvSpPr>
          <p:nvPr/>
        </p:nvSpPr>
        <p:spPr>
          <a:xfrm>
            <a:off x="838200" y="939458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>
                <a:latin typeface="Anta" pitchFamily="2" charset="0"/>
              </a:rPr>
              <a:t>Todos los agradecimientos a </a:t>
            </a:r>
            <a:r>
              <a:rPr lang="es-ES" dirty="0" err="1">
                <a:latin typeface="Anta" pitchFamily="2" charset="0"/>
              </a:rPr>
              <a:t>Massif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Press</a:t>
            </a:r>
            <a:r>
              <a:rPr lang="es-ES" dirty="0">
                <a:latin typeface="Anta" pitchFamily="2" charset="0"/>
              </a:rPr>
              <a:t>, los creadores de </a:t>
            </a:r>
            <a:r>
              <a:rPr lang="es-ES" dirty="0" err="1">
                <a:latin typeface="Anta" pitchFamily="2" charset="0"/>
              </a:rPr>
              <a:t>LancerRPG</a:t>
            </a:r>
            <a:r>
              <a:rPr lang="es-ES" dirty="0">
                <a:latin typeface="Anta" pitchFamily="2" charset="0"/>
              </a:rPr>
              <a:t>; por permitir la creación de software por medio de la licencia </a:t>
            </a:r>
            <a:r>
              <a:rPr lang="es-ES" dirty="0" err="1">
                <a:latin typeface="Anta" pitchFamily="2" charset="0"/>
              </a:rPr>
              <a:t>Third</a:t>
            </a:r>
            <a:r>
              <a:rPr lang="es-ES" dirty="0">
                <a:latin typeface="Anta" pitchFamily="2" charset="0"/>
              </a:rPr>
              <a:t> </a:t>
            </a:r>
            <a:r>
              <a:rPr lang="es-ES" dirty="0" err="1">
                <a:latin typeface="Anta" pitchFamily="2" charset="0"/>
              </a:rPr>
              <a:t>Party</a:t>
            </a:r>
            <a:r>
              <a:rPr lang="es-ES" dirty="0">
                <a:latin typeface="Anta" pitchFamily="2" charset="0"/>
              </a:rPr>
              <a:t>.</a:t>
            </a:r>
          </a:p>
        </p:txBody>
      </p:sp>
      <p:pic>
        <p:nvPicPr>
          <p:cNvPr id="3074" name="Picture 2" descr="Massif Press · GitHub">
            <a:extLst>
              <a:ext uri="{FF2B5EF4-FFF2-40B4-BE49-F238E27FC236}">
                <a16:creationId xmlns:a16="http://schemas.microsoft.com/office/drawing/2014/main" id="{73EF8FAE-FA11-EF9B-BB21-F7BAC6EF2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530" y="10733447"/>
            <a:ext cx="2667000" cy="2667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76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406EAE-4808-EF47-8A67-255643BC5077}"/>
              </a:ext>
            </a:extLst>
          </p:cNvPr>
          <p:cNvSpPr txBox="1">
            <a:spLocks/>
          </p:cNvSpPr>
          <p:nvPr/>
        </p:nvSpPr>
        <p:spPr>
          <a:xfrm>
            <a:off x="936437" y="28095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>
                <a:latin typeface="Anta" pitchFamily="2" charset="0"/>
              </a:rPr>
              <a:t>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722350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803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Anta</vt:lpstr>
      <vt:lpstr>Aptos</vt:lpstr>
      <vt:lpstr>Aptos Display</vt:lpstr>
      <vt:lpstr>Arial</vt:lpstr>
      <vt:lpstr>Office Theme</vt:lpstr>
      <vt:lpstr>Lancer Fight Manager</vt:lpstr>
      <vt:lpstr>Lancer Fight Manager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Gin Shirayama</dc:creator>
  <cp:lastModifiedBy>Gin Shirayama</cp:lastModifiedBy>
  <cp:revision>3</cp:revision>
  <dcterms:created xsi:type="dcterms:W3CDTF">2025-06-17T13:10:51Z</dcterms:created>
  <dcterms:modified xsi:type="dcterms:W3CDTF">2025-06-17T16:55:33Z</dcterms:modified>
</cp:coreProperties>
</file>